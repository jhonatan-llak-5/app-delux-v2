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3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4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Empleos</c:v>
                </c:pt>
              </c:strCache>
            </c:strRef>
          </c:tx>
          <c:spPr>
            <a:solidFill>
              <a:srgbClr val="0A5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484248</c:v>
                </c:pt>
                <c:pt idx="1">
                  <c:v>503961</c:v>
                </c:pt>
                <c:pt idx="2">
                  <c:v>490860</c:v>
                </c:pt>
                <c:pt idx="3">
                  <c:v>533289</c:v>
                </c:pt>
                <c:pt idx="4">
                  <c:v>560574</c:v>
                </c:pt>
                <c:pt idx="5">
                  <c:v>555862</c:v>
                </c:pt>
                <c:pt idx="6">
                  <c:v>549508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A9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"/>
          <c:min val="400000"/>
        </c:scaling>
        <c:delete val="0"/>
        <c:axPos val="l"/>
        <c:majorGridlines>
          <c:spPr>
            <a:ln w="6350" cap="flat">
              <a:solidFill>
                <a:srgbClr val="D9E2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A9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Establecimientos</c:v>
                </c:pt>
              </c:strCache>
            </c:strRef>
          </c:tx>
          <c:spPr>
            <a:solidFill>
              <a:srgbClr val="2E9E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21258</c:v>
                </c:pt>
                <c:pt idx="1">
                  <c:v>22244</c:v>
                </c:pt>
                <c:pt idx="2">
                  <c:v>23136</c:v>
                </c:pt>
                <c:pt idx="3">
                  <c:v>25083</c:v>
                </c:pt>
                <c:pt idx="4">
                  <c:v>29606</c:v>
                </c:pt>
                <c:pt idx="5">
                  <c:v>31793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A9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A9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5BA8"/>
              </a:solidFill>
              <a:effectLst/>
            </c:spPr>
          </c:dPt>
          <c:dPt>
            <c:idx val="1"/>
            <c:bubble3D val="0"/>
            <c:spPr>
              <a:solidFill>
                <a:srgbClr val="C8A24B"/>
              </a:solidFill>
              <a:effectLst/>
            </c:spPr>
          </c:dPt>
          <c:dPt>
            <c:idx val="2"/>
            <c:bubble3D val="0"/>
            <c:spPr>
              <a:solidFill>
                <a:srgbClr val="1B7FD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Ingresos</c:v>
                </c:pt>
                <c:pt idx="1">
                  <c:v>Costos</c:v>
                </c:pt>
                <c:pt idx="2">
                  <c:v>Gastos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32</c:v>
                </c:pt>
                <c:pt idx="2">
                  <c:v>23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Flujo neto (miles USD)</c:v>
                </c:pt>
              </c:strCache>
            </c:strRef>
          </c:tx>
          <c:spPr>
            <a:solidFill>
              <a:srgbClr val="0A5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Año 0</c:v>
                  </c:pt>
                  <c:pt idx="1">
                    <c:v>Año 1</c:v>
                  </c:pt>
                  <c:pt idx="2">
                    <c:v>Año 2</c:v>
                  </c:pt>
                  <c:pt idx="3">
                    <c:v>Año 3</c:v>
                  </c:pt>
                  <c:pt idx="4">
                    <c:v>Año 4</c:v>
                  </c:pt>
                  <c:pt idx="5">
                    <c:v>Año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-120</c:v>
                </c:pt>
                <c:pt idx="1">
                  <c:v>-30</c:v>
                </c:pt>
                <c:pt idx="2">
                  <c:v>40</c:v>
                </c:pt>
                <c:pt idx="3">
                  <c:v>95</c:v>
                </c:pt>
                <c:pt idx="4">
                  <c:v>150</c:v>
                </c:pt>
                <c:pt idx="5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A9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150"/>
        </c:scaling>
        <c:delete val="0"/>
        <c:axPos val="l"/>
        <c:majorGridlines>
          <c:spPr>
            <a:ln w="6350" cap="flat">
              <a:solidFill>
                <a:srgbClr val="D9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A9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image" Target="../media/image-3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.xm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6" Type="http://schemas.openxmlformats.org/officeDocument/2006/relationships/image" Target="../media/image-3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2_Imagen_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0B2545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5" name="Shape 2"/>
          <p:cNvSpPr/>
          <p:nvPr/>
        </p:nvSpPr>
        <p:spPr>
          <a:xfrm>
            <a:off x="6629400" y="0"/>
            <a:ext cx="109728" cy="685800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640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7" name="Image 1" descr="assets/s1_image1.p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0120" y="786384"/>
            <a:ext cx="2103120" cy="576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CONFERENCIA ACADÉMICA · JUNIO 2026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7240" y="2514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Formulación y Gestión de Proyectos Turísticos</a:t>
            </a:r>
            <a:endParaRPr lang="en-US" sz="3800" dirty="0"/>
          </a:p>
        </p:txBody>
      </p:sp>
      <p:sp>
        <p:nvSpPr>
          <p:cNvPr id="10" name="Shape 6"/>
          <p:cNvSpPr/>
          <p:nvPr/>
        </p:nvSpPr>
        <p:spPr>
          <a:xfrm>
            <a:off x="822960" y="4526280"/>
            <a:ext cx="640080" cy="4572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Gualberto Llamuca Colcha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Empresarial de Guayaquil · Ecuador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C2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Bienvenidas y bienvenidos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Contenidos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9280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5740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0" y="17647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600200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turístico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79392" y="16002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7992" y="189280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05740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76872" y="17647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376672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Conceptualización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55864" y="16002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4464" y="189280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05740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53344" y="176479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9153144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Proyectos transformadores de género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02920" y="31089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340156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566160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200400" y="32735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60020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279392" y="31089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07992" y="340156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566160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76872" y="32735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5376672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 de Marco Lógico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8055864" y="31089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84464" y="340156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566160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753344" y="32735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9153144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502920" y="461772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31520" y="491032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074920"/>
            <a:ext cx="402336" cy="40233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200400" y="478231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400" dirty="0"/>
          </a:p>
        </p:txBody>
      </p:sp>
      <p:sp>
        <p:nvSpPr>
          <p:cNvPr id="39" name="Text 30"/>
          <p:cNvSpPr/>
          <p:nvPr/>
        </p:nvSpPr>
        <p:spPr>
          <a:xfrm>
            <a:off x="1600200" y="4892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 financiera</a:t>
            </a:r>
            <a:endParaRPr lang="en-US" sz="1350" dirty="0"/>
          </a:p>
        </p:txBody>
      </p:sp>
      <p:sp>
        <p:nvSpPr>
          <p:cNvPr id="40" name="Shape 31"/>
          <p:cNvSpPr/>
          <p:nvPr/>
        </p:nvSpPr>
        <p:spPr>
          <a:xfrm>
            <a:off x="4279392" y="461772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507992" y="491032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2584" y="5074920"/>
            <a:ext cx="402336" cy="40233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976872" y="478231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400" dirty="0"/>
          </a:p>
        </p:txBody>
      </p:sp>
      <p:sp>
        <p:nvSpPr>
          <p:cNvPr id="44" name="Text 34"/>
          <p:cNvSpPr/>
          <p:nvPr/>
        </p:nvSpPr>
        <p:spPr>
          <a:xfrm>
            <a:off x="5376672" y="4892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de financiamiento</a:t>
            </a:r>
            <a:endParaRPr lang="en-US" sz="1350" dirty="0"/>
          </a:p>
        </p:txBody>
      </p:sp>
      <p:sp>
        <p:nvSpPr>
          <p:cNvPr id="45" name="Shape 35"/>
          <p:cNvSpPr/>
          <p:nvPr/>
        </p:nvSpPr>
        <p:spPr>
          <a:xfrm>
            <a:off x="8055864" y="461772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284464" y="491032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9056" y="5074920"/>
            <a:ext cx="402336" cy="40233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753344" y="478231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400" dirty="0"/>
          </a:p>
        </p:txBody>
      </p:sp>
      <p:sp>
        <p:nvSpPr>
          <p:cNvPr id="49" name="Text 38"/>
          <p:cNvSpPr/>
          <p:nvPr/>
        </p:nvSpPr>
        <p:spPr>
          <a:xfrm>
            <a:off x="9153144" y="4892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Referencias bibliográficas</a:t>
            </a:r>
            <a:endParaRPr lang="en-US" sz="1350" dirty="0"/>
          </a:p>
        </p:txBody>
      </p:sp>
      <p:pic>
        <p:nvPicPr>
          <p:cNvPr id="50" name="Image 9" descr="assets/s1_image1.png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y Gestión de Proyectos Turísticos</a:t>
            </a: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turístico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Ecuador: un destino mega-diverso en cuatro mundos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TURÍSTICO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turismo como motor de desarrollo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turismo es una de las actividades económicas con mayor capacidad de generar empleo, dinamizar territorios y poner en valor el patrimonio natural y cultural. Ecuador concentra en un territorio compacto una diversidad excepcional de atractivos.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5204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280160" y="4572000"/>
            <a:ext cx="502920" cy="36576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663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 naturales en un solo país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97480" y="32461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35204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3429000" y="4572000"/>
            <a:ext cx="502920" cy="36576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4663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Parques nacionales en el SNAP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32461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52044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471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5577840" y="4572000"/>
            <a:ext cx="502920" cy="36576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46634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Atractivos solo en Cotopaxi</a:t>
            </a:r>
            <a:endParaRPr lang="en-US" sz="1150" dirty="0"/>
          </a:p>
        </p:txBody>
      </p:sp>
      <p:pic>
        <p:nvPicPr>
          <p:cNvPr id="18" name="Image 0" descr="assets/s5_Imagen_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554480"/>
            <a:ext cx="4343400" cy="39319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315200" y="1554480"/>
            <a:ext cx="4343400" cy="3931920"/>
          </a:xfrm>
          <a:prstGeom prst="roundRect">
            <a:avLst>
              <a:gd name="adj" fmla="val 1395"/>
            </a:avLst>
          </a:prstGeom>
          <a:ln w="38100">
            <a:solidFill>
              <a:srgbClr val="FFFFFF"/>
            </a:solidFill>
            <a:prstDash val="solid"/>
          </a:ln>
        </p:spPr>
      </p:sp>
      <p:pic>
        <p:nvPicPr>
          <p:cNvPr id="20" name="Image 1" descr="assets/s1_image1.p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turístico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TURÍSTICO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Cuatro regiones, cuatro experiencias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93776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554480"/>
            <a:ext cx="5943600" cy="1078992"/>
          </a:xfrm>
          <a:prstGeom prst="roundRect">
            <a:avLst>
              <a:gd name="adj" fmla="val 508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554480"/>
            <a:ext cx="109728" cy="1078992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8" name="Shape 5"/>
          <p:cNvSpPr/>
          <p:nvPr/>
        </p:nvSpPr>
        <p:spPr>
          <a:xfrm>
            <a:off x="6053328" y="1801368"/>
            <a:ext cx="585216" cy="585216"/>
          </a:xfrm>
          <a:prstGeom prst="ellipse">
            <a:avLst/>
          </a:prstGeom>
          <a:solidFill>
            <a:srgbClr val="0A5BA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92938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17007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Insular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122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de la evolución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60720" y="2798064"/>
            <a:ext cx="5943600" cy="1078992"/>
          </a:xfrm>
          <a:prstGeom prst="roundRect">
            <a:avLst>
              <a:gd name="adj" fmla="val 508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60720" y="2798064"/>
            <a:ext cx="109728" cy="1078992"/>
          </a:xfrm>
          <a:prstGeom prst="rect">
            <a:avLst/>
          </a:prstGeom>
          <a:solidFill>
            <a:srgbClr val="23577F"/>
          </a:solidFill>
          <a:ln/>
        </p:spPr>
      </p:sp>
      <p:sp>
        <p:nvSpPr>
          <p:cNvPr id="14" name="Shape 10"/>
          <p:cNvSpPr/>
          <p:nvPr/>
        </p:nvSpPr>
        <p:spPr>
          <a:xfrm>
            <a:off x="6053328" y="3044952"/>
            <a:ext cx="585216" cy="585216"/>
          </a:xfrm>
          <a:prstGeom prst="ellipse">
            <a:avLst/>
          </a:prstGeom>
          <a:solidFill>
            <a:srgbClr val="23577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31729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29443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Sierra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812280" y="33009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colonial y los volcanes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60720" y="4041648"/>
            <a:ext cx="5943600" cy="1078992"/>
          </a:xfrm>
          <a:prstGeom prst="roundRect">
            <a:avLst>
              <a:gd name="adj" fmla="val 508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760720" y="4041648"/>
            <a:ext cx="109728" cy="1078992"/>
          </a:xfrm>
          <a:prstGeom prst="rect">
            <a:avLst/>
          </a:prstGeom>
          <a:solidFill>
            <a:srgbClr val="1B7FD1"/>
          </a:solidFill>
          <a:ln/>
        </p:spPr>
      </p:sp>
      <p:sp>
        <p:nvSpPr>
          <p:cNvPr id="20" name="Shape 15"/>
          <p:cNvSpPr/>
          <p:nvPr/>
        </p:nvSpPr>
        <p:spPr>
          <a:xfrm>
            <a:off x="6053328" y="4288536"/>
            <a:ext cx="585216" cy="585216"/>
          </a:xfrm>
          <a:prstGeom prst="ellipse">
            <a:avLst/>
          </a:prstGeom>
          <a:solidFill>
            <a:srgbClr val="1B7FD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441655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4187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812280" y="45445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Playas vírgenes y fauna marina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760720" y="5285232"/>
            <a:ext cx="5943600" cy="1078992"/>
          </a:xfrm>
          <a:prstGeom prst="roundRect">
            <a:avLst>
              <a:gd name="adj" fmla="val 508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B2545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60720" y="5285232"/>
            <a:ext cx="109728" cy="1078992"/>
          </a:xfrm>
          <a:prstGeom prst="rect">
            <a:avLst/>
          </a:prstGeom>
          <a:solidFill>
            <a:srgbClr val="2E9E7B"/>
          </a:solidFill>
          <a:ln/>
        </p:spPr>
      </p:sp>
      <p:sp>
        <p:nvSpPr>
          <p:cNvPr id="26" name="Shape 20"/>
          <p:cNvSpPr/>
          <p:nvPr/>
        </p:nvSpPr>
        <p:spPr>
          <a:xfrm>
            <a:off x="6053328" y="5532120"/>
            <a:ext cx="585216" cy="585216"/>
          </a:xfrm>
          <a:prstGeom prst="ellipse">
            <a:avLst/>
          </a:prstGeom>
          <a:solidFill>
            <a:srgbClr val="2E9E7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566013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812280" y="5431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Amazonía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812280" y="57881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biodiversidad y turismo ancestral</a:t>
            </a:r>
            <a:endParaRPr lang="en-US" sz="1200" dirty="0"/>
          </a:p>
        </p:txBody>
      </p:sp>
      <p:pic>
        <p:nvPicPr>
          <p:cNvPr id="30" name="Image 5" descr="assets/s1_image1.png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turístico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TURÍSTICO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turismo en cifras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Empleo en actividades de turismo</a:t>
            </a:r>
            <a:endParaRPr lang="en-US" sz="14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19456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983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ENEMDU · INEC (2018–2025). 2020 excluido por la pandemia.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68112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9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Establecimientos turísticos registrados</a:t>
            </a:r>
            <a:endParaRPr lang="en-US" sz="14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09360" y="2194560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6446520" y="4983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Ministerio de Producción, Comercio Exterior e Inversiones.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9612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54406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crece de forma sostenida: más de 31.000 establecimientos y cerca de 550.000 empleos confirman al turismo como motor económico del Ecuador.</a:t>
            </a:r>
            <a:endParaRPr lang="en-US" sz="1350" dirty="0"/>
          </a:p>
        </p:txBody>
      </p:sp>
      <p:pic>
        <p:nvPicPr>
          <p:cNvPr id="16" name="Image 1" descr="assets/s1_image1.p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turístico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Conceptualización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proyecto turístico y cómo se gestiona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proyecto turístico?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40680" cy="109728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057400"/>
            <a:ext cx="914400" cy="91440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6771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1546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de proyecto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379476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actividades diseñadas para alcanzar uno o más resultados específicos, en línea con los objetivos y metas de programas más amplios.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600200"/>
            <a:ext cx="5440680" cy="10972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29400" y="2057400"/>
            <a:ext cx="914400" cy="91440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226771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31546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Proyecto turístico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29400" y="379476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actividades planificadas, interrelacionadas y coordinadas, orientadas a crear, mejorar o transformar un producto, servicio o destino turístico, en un marco temporal definido y con recursos limitados.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172200" y="5440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Buhalis &amp; Costa (2006)</a:t>
            </a:r>
            <a:endParaRPr lang="en-US" sz="1000" dirty="0"/>
          </a:p>
        </p:txBody>
      </p:sp>
      <p:pic>
        <p:nvPicPr>
          <p:cNvPr id="18" name="Image 2" descr="assets/s1_image1.p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y tipología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7607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5166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 a la estrategia/programa de país y a sus objetivos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plazo definido; puede iniciar y terminar en cualquier momento del año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una o múltiples áreas de impacto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costo mínimo financiado por una o más fuentes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cubrir una o varias zonas e incluso varios países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implementa la entidad proponente y/o sus socios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Tipología de proyectos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0" y="2240280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15784" y="244144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542032"/>
            <a:ext cx="530352" cy="5303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0" y="315468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0" y="2240280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976104" y="2441448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2542032"/>
            <a:ext cx="530352" cy="5303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35440" y="315468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Rutas y circuitos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3730752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15784" y="3931920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403250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46451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Turismo comunitario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44000" y="3730752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76104" y="3931920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4032504"/>
            <a:ext cx="530352" cy="5303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35440" y="46451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Atractivos y equipamientos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583680" y="5221224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15784" y="5422392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5522976"/>
            <a:ext cx="530352" cy="5303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0" y="613562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destinos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9144000" y="5221224"/>
            <a:ext cx="239572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976104" y="5422392"/>
            <a:ext cx="731520" cy="73152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688" y="5522976"/>
            <a:ext cx="530352" cy="5303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613562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turístico</a:t>
            </a:r>
            <a:endParaRPr lang="en-US" sz="1150" dirty="0"/>
          </a:p>
        </p:txBody>
      </p:sp>
      <p:pic>
        <p:nvPicPr>
          <p:cNvPr id="33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proyectos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4251960"/>
          </a:xfrm>
          <a:prstGeom prst="roundRect">
            <a:avLst>
              <a:gd name="adj" fmla="val 1739"/>
            </a:avLst>
          </a:prstGeom>
          <a:solidFill>
            <a:srgbClr val="0B2545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proyectos es la disciplina de planificar y administrar los recursos para facilitar el logro exitoso de los objetivos, resultados y productos del proyecto.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0" y="1600200"/>
            <a:ext cx="66294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93792" y="1746504"/>
            <a:ext cx="512064" cy="512064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18288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70448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26680" y="169164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causas, brechas en derechos y necesidades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0" y="2459736"/>
            <a:ext cx="66294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193792" y="2606040"/>
            <a:ext cx="512064" cy="512064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268833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70448" y="255117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Grupos de interés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726680" y="2551176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las inquietudes de los stakeholders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029200" y="3319272"/>
            <a:ext cx="66294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193792" y="3465576"/>
            <a:ext cx="512064" cy="512064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354787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70448" y="34107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Equilibrio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26680" y="3410712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Balancear alcance, cronograma, recursos, costos y calidad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0" y="4178808"/>
            <a:ext cx="66294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193792" y="4325112"/>
            <a:ext cx="512064" cy="512064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4407408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70448" y="42702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Adaptación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726680" y="42702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proyecto a los cambios del contexto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029200" y="5038344"/>
            <a:ext cx="66294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193792" y="5184648"/>
            <a:ext cx="512064" cy="512064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5266944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870448" y="512978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726680" y="5129784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el cambio positivo previsto</a:t>
            </a:r>
            <a:endParaRPr lang="en-US" sz="1250" dirty="0"/>
          </a:p>
        </p:txBody>
      </p:sp>
      <p:pic>
        <p:nvPicPr>
          <p:cNvPr id="33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CONCEPTUALIZACIÓN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Principios de la gestión de proyectos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51660" y="2240280"/>
            <a:ext cx="1005840" cy="1005840"/>
          </a:xfrm>
          <a:prstGeom prst="ellipse">
            <a:avLst/>
          </a:prstGeom>
          <a:solidFill>
            <a:srgbClr val="0A5B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2450592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Integral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4980" y="2240280"/>
            <a:ext cx="1005840" cy="1005840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450592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291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Colaborativa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01000" y="19659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58300" y="2240280"/>
            <a:ext cx="1005840" cy="1005840"/>
          </a:xfrm>
          <a:prstGeom prst="ellipse">
            <a:avLst/>
          </a:prstGeom>
          <a:solidFill>
            <a:srgbClr val="1B7FD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612" y="2450592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3291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Integrada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94360" y="3977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851660" y="4251960"/>
            <a:ext cx="1005840" cy="1005840"/>
          </a:xfrm>
          <a:prstGeom prst="ellipse">
            <a:avLst/>
          </a:prstGeom>
          <a:solidFill>
            <a:srgbClr val="23577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972" y="4462272"/>
            <a:ext cx="585216" cy="5852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5303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Interactiva y ajustable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297680" y="3977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554980" y="4251960"/>
            <a:ext cx="1005840" cy="1005840"/>
          </a:xfrm>
          <a:prstGeom prst="ellipse">
            <a:avLst/>
          </a:prstGeom>
          <a:solidFill>
            <a:srgbClr val="2E9E7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292" y="4462272"/>
            <a:ext cx="585216" cy="5852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80560" y="5303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Participativa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8001000" y="3977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258300" y="4251960"/>
            <a:ext cx="1005840" cy="10058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4462272"/>
            <a:ext cx="585216" cy="58521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83880" y="5303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Bien gobernada</a:t>
            </a:r>
            <a:endParaRPr lang="en-US" sz="1450" dirty="0"/>
          </a:p>
        </p:txBody>
      </p:sp>
      <p:pic>
        <p:nvPicPr>
          <p:cNvPr id="29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Proyectos transformadores de género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 e inclusión en el ciclo del proyecto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PROYECTOS TRANSFORMADORES DE GÉNERO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 elementos transformadores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que ayudan a lograr, gradualmente, programas y proyectos transformadores de género e inclusión a lo largo de todo su ciclo de vida.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01168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128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508760" y="226771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las normas de género durante todo el ciclo de vida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20116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201168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2128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285232" y="226771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la agencia de las niñas y mujeres en toda su diversidad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55864" y="20116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55864" y="201168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21284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061704" y="226771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niños, jóvenes y hombres en toda su diversidad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97764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78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1508760" y="423367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la condición y la posición de mujeres y niñas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79392" y="3977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9392" y="397764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4" name="Text 22"/>
          <p:cNvSpPr/>
          <p:nvPr/>
        </p:nvSpPr>
        <p:spPr>
          <a:xfrm>
            <a:off x="4507992" y="4178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5285232" y="423367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 las necesidades e intereses de todas las personas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55864" y="3977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55864" y="397764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8" name="Text 26"/>
          <p:cNvSpPr/>
          <p:nvPr/>
        </p:nvSpPr>
        <p:spPr>
          <a:xfrm>
            <a:off x="8284464" y="4178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9061704" y="423367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un entorno facilitador para la igualdad de género</a:t>
            </a:r>
            <a:endParaRPr lang="en-US" sz="1250" dirty="0"/>
          </a:p>
        </p:txBody>
      </p:sp>
      <p:pic>
        <p:nvPicPr>
          <p:cNvPr id="30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transformadores de género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insumos al impacto: gestión basada en resultados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basada en resultados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139696" cy="2468880"/>
          </a:xfrm>
          <a:prstGeom prst="roundRect">
            <a:avLst>
              <a:gd name="adj" fmla="val 2991"/>
            </a:avLst>
          </a:prstGeom>
          <a:solidFill>
            <a:srgbClr val="667A92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1288" y="24688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63347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38328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INSUMOS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7512" y="37947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financieros, humanos o materiales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78608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188" y="3351276"/>
            <a:ext cx="155448" cy="1554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07208" y="2194560"/>
            <a:ext cx="2139696" cy="2468880"/>
          </a:xfrm>
          <a:prstGeom prst="roundRect">
            <a:avLst>
              <a:gd name="adj" fmla="val 2991"/>
            </a:avLst>
          </a:prstGeom>
          <a:solidFill>
            <a:srgbClr val="4A6B8A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65576" y="24688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6334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98648" y="338328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2971800" y="37947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llevadas a cabo o trabajo realizado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82896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476" y="3351276"/>
            <a:ext cx="155448" cy="15544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11496" y="2194560"/>
            <a:ext cx="2139696" cy="2468880"/>
          </a:xfrm>
          <a:prstGeom prst="roundRect">
            <a:avLst>
              <a:gd name="adj" fmla="val 2991"/>
            </a:avLst>
          </a:prstGeom>
          <a:solidFill>
            <a:srgbClr val="1B7FD1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769864" y="24688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2633472"/>
            <a:ext cx="493776" cy="49377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02936" y="338328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276088" y="37947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directos de las actividades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187184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5764" y="3351276"/>
            <a:ext cx="155448" cy="15544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415784" y="2194560"/>
            <a:ext cx="2139696" cy="2468880"/>
          </a:xfrm>
          <a:prstGeom prst="roundRect">
            <a:avLst>
              <a:gd name="adj" fmla="val 2991"/>
            </a:avLst>
          </a:prstGeom>
          <a:solidFill>
            <a:srgbClr val="0A5BA8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074152" y="24688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2633472"/>
            <a:ext cx="493776" cy="49377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07224" y="338328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7580376" y="37947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conocimiento, habilidades, conductas y políticas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9491472" y="32826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5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0052" y="3351276"/>
            <a:ext cx="155448" cy="15544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720072" y="2194560"/>
            <a:ext cx="2139696" cy="2468880"/>
          </a:xfrm>
          <a:prstGeom prst="roundRect">
            <a:avLst>
              <a:gd name="adj" fmla="val 2991"/>
            </a:avLst>
          </a:prstGeom>
          <a:solidFill>
            <a:srgbClr val="C8A24B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10378440" y="2468880"/>
            <a:ext cx="822960" cy="8229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3032" y="2633472"/>
            <a:ext cx="493776" cy="49377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11512" y="3383280"/>
            <a:ext cx="1956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/ FIN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9884664" y="37947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a largo plazo en la vida de las personas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502920" y="4983480"/>
            <a:ext cx="5349240" cy="64008"/>
          </a:xfrm>
          <a:prstGeom prst="rect">
            <a:avLst/>
          </a:prstGeom>
          <a:solidFill>
            <a:srgbClr val="DCE9F7"/>
          </a:solidFill>
          <a:ln/>
        </p:spPr>
      </p:sp>
      <p:sp>
        <p:nvSpPr>
          <p:cNvPr id="39" name="Text 28"/>
          <p:cNvSpPr/>
          <p:nvPr/>
        </p:nvSpPr>
        <p:spPr>
          <a:xfrm>
            <a:off x="502920" y="50749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6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LO HACEMOS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6400800" y="4983480"/>
            <a:ext cx="534924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1" name="Text 30"/>
          <p:cNvSpPr/>
          <p:nvPr/>
        </p:nvSpPr>
        <p:spPr>
          <a:xfrm>
            <a:off x="6400800" y="50749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QUEREMOS LOGRAR</a:t>
            </a:r>
            <a:endParaRPr lang="en-US" sz="1100" dirty="0"/>
          </a:p>
        </p:txBody>
      </p:sp>
      <p:pic>
        <p:nvPicPr>
          <p:cNvPr id="42" name="Image 9" descr="assets/s1_image1.png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indicadores</a:t>
            </a:r>
            <a:endParaRPr lang="en-US" sz="900" dirty="0"/>
          </a:p>
        </p:txBody>
      </p:sp>
      <p:sp>
        <p:nvSpPr>
          <p:cNvPr id="44" name="Text 32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≠ indicadores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03120"/>
            <a:ext cx="960120" cy="960120"/>
          </a:xfrm>
          <a:prstGeom prst="ellipse">
            <a:avLst/>
          </a:prstGeom>
          <a:solidFill>
            <a:srgbClr val="0A5B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3591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94560" y="21945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5840" y="329184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Describen el CAMBIO que pretendemos lograr a nivel de producto, resultado e impacto.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05840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 dirección y el destino del proyecto.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103120"/>
            <a:ext cx="960120" cy="960120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35915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21945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Indicadores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629400" y="329184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MEDICIONES específicas que ofrecen pruebas del progreso alcanzado respecto de esos cambios.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629400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 evidencia que confirma el avance.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8523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51206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muy relacionados, pero no son lo mismo: el resultado define el qué; el indicador, cómo sabremos que se logró.</a:t>
            </a:r>
            <a:endParaRPr lang="en-US" sz="1400" dirty="0"/>
          </a:p>
        </p:txBody>
      </p:sp>
      <p:pic>
        <p:nvPicPr>
          <p:cNvPr id="20" name="Image 3" descr="assets/s1_image1.p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indicadores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indicadores ofrecen pruebas de: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2670048" cy="109728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2514600"/>
            <a:ext cx="1005840" cy="10058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6517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6576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progreso respecto de los resultados planeados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20574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2057400"/>
            <a:ext cx="2670048" cy="109728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13" name="Shape 10"/>
          <p:cNvSpPr/>
          <p:nvPr/>
        </p:nvSpPr>
        <p:spPr>
          <a:xfrm>
            <a:off x="4169664" y="2514600"/>
            <a:ext cx="1005840" cy="10058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265176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36576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Logro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66160" y="41605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logro efectivo de resultados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126480" y="20574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2057400"/>
            <a:ext cx="2670048" cy="109728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19" name="Shape 15"/>
          <p:cNvSpPr/>
          <p:nvPr/>
        </p:nvSpPr>
        <p:spPr>
          <a:xfrm>
            <a:off x="6958584" y="2514600"/>
            <a:ext cx="1005840" cy="10058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2651760"/>
            <a:ext cx="731520" cy="7315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36576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55080" y="41605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 los enfoques y sus relaciones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915400" y="20574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15400" y="2057400"/>
            <a:ext cx="2670048" cy="109728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25" name="Shape 20"/>
          <p:cNvSpPr/>
          <p:nvPr/>
        </p:nvSpPr>
        <p:spPr>
          <a:xfrm>
            <a:off x="9747504" y="2514600"/>
            <a:ext cx="1005840" cy="10058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4" y="2651760"/>
            <a:ext cx="731520" cy="7315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052560" y="365760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de fondos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144000" y="416052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los fondos asignados</a:t>
            </a:r>
            <a:endParaRPr lang="en-US" sz="1250" dirty="0"/>
          </a:p>
        </p:txBody>
      </p:sp>
      <p:pic>
        <p:nvPicPr>
          <p:cNvPr id="29" name="Image 4" descr="assets/s1_image1.png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indicadores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necesitamos indicadores?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de la cadena de resultados requiere metas, indicadores, fuentes de verificación y supuestos para poder ser monitoreado y evaluado.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67919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Cadena de resultados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Metas / Indicadores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Fuente de verificación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Supuestos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Impacto / Fin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Resultado / Propósito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Productos / Componentes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Actividades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indicadores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Verificación de la calidad de los indicadores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indicador no se define solo: debe cumplir un conjunto de criterios de calidad.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criterios garantizan que la medición sea precisa, útil y costo-eficiente.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66560" y="1600200"/>
            <a:ext cx="4937760" cy="841248"/>
          </a:xfrm>
          <a:prstGeom prst="roundRect">
            <a:avLst>
              <a:gd name="adj" fmla="val 543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12864" y="1746504"/>
            <a:ext cx="548640" cy="548640"/>
          </a:xfrm>
          <a:prstGeom prst="ellipse">
            <a:avLst/>
          </a:prstGeom>
          <a:solidFill>
            <a:srgbClr val="0A5BA8"/>
          </a:solidFill>
          <a:ln/>
        </p:spPr>
      </p:sp>
      <p:sp>
        <p:nvSpPr>
          <p:cNvPr id="8" name="Text 6"/>
          <p:cNvSpPr/>
          <p:nvPr/>
        </p:nvSpPr>
        <p:spPr>
          <a:xfrm>
            <a:off x="6912864" y="1746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35240" y="160020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2551176"/>
            <a:ext cx="4937760" cy="841248"/>
          </a:xfrm>
          <a:prstGeom prst="roundRect">
            <a:avLst>
              <a:gd name="adj" fmla="val 543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12864" y="2697480"/>
            <a:ext cx="548640" cy="548640"/>
          </a:xfrm>
          <a:prstGeom prst="ellipse">
            <a:avLst/>
          </a:prstGeom>
          <a:solidFill>
            <a:srgbClr val="0A5BA8"/>
          </a:solidFill>
          <a:ln/>
        </p:spPr>
      </p:sp>
      <p:sp>
        <p:nvSpPr>
          <p:cNvPr id="12" name="Text 10"/>
          <p:cNvSpPr/>
          <p:nvPr/>
        </p:nvSpPr>
        <p:spPr>
          <a:xfrm>
            <a:off x="6912864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35240" y="2551176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3502152"/>
            <a:ext cx="4937760" cy="841248"/>
          </a:xfrm>
          <a:prstGeom prst="roundRect">
            <a:avLst>
              <a:gd name="adj" fmla="val 543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12864" y="3648456"/>
            <a:ext cx="548640" cy="548640"/>
          </a:xfrm>
          <a:prstGeom prst="ellipse">
            <a:avLst/>
          </a:prstGeom>
          <a:solidFill>
            <a:srgbClr val="0A5BA8"/>
          </a:solidFill>
          <a:ln/>
        </p:spPr>
      </p:sp>
      <p:sp>
        <p:nvSpPr>
          <p:cNvPr id="16" name="Text 14"/>
          <p:cNvSpPr/>
          <p:nvPr/>
        </p:nvSpPr>
        <p:spPr>
          <a:xfrm>
            <a:off x="6912864" y="36484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35240" y="3502152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Económico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4453128"/>
            <a:ext cx="4937760" cy="841248"/>
          </a:xfrm>
          <a:prstGeom prst="roundRect">
            <a:avLst>
              <a:gd name="adj" fmla="val 543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12864" y="4599432"/>
            <a:ext cx="548640" cy="548640"/>
          </a:xfrm>
          <a:prstGeom prst="ellipse">
            <a:avLst/>
          </a:prstGeom>
          <a:solidFill>
            <a:srgbClr val="0A5BA8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4599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35240" y="445312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Monitoreable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5404104"/>
            <a:ext cx="4937760" cy="841248"/>
          </a:xfrm>
          <a:prstGeom prst="roundRect">
            <a:avLst>
              <a:gd name="adj" fmla="val 5435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2864" y="5550408"/>
            <a:ext cx="548640" cy="548640"/>
          </a:xfrm>
          <a:prstGeom prst="ellipse">
            <a:avLst/>
          </a:prstGeom>
          <a:solidFill>
            <a:srgbClr val="0A5BA8"/>
          </a:solidFill>
          <a:ln/>
        </p:spPr>
      </p:sp>
      <p:sp>
        <p:nvSpPr>
          <p:cNvPr id="24" name="Text 22"/>
          <p:cNvSpPr/>
          <p:nvPr/>
        </p:nvSpPr>
        <p:spPr>
          <a:xfrm>
            <a:off x="6912864" y="5550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635240" y="5404104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Adecuado</a:t>
            </a:r>
            <a:endParaRPr lang="en-US" sz="1600" dirty="0"/>
          </a:p>
        </p:txBody>
      </p:sp>
      <p:pic>
        <p:nvPicPr>
          <p:cNvPr id="26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indicadores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E INDICADORES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calidad de un indicador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28016" cy="758952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837944"/>
            <a:ext cx="457200" cy="457200"/>
          </a:xfrm>
          <a:prstGeom prst="ellipse">
            <a:avLst/>
          </a:prstGeom>
          <a:solidFill>
            <a:srgbClr val="0A5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385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691640"/>
            <a:ext cx="2651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Claridad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51960" y="1691640"/>
            <a:ext cx="7159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puede definirse de manera precisa y sin ambigüedades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42032"/>
            <a:ext cx="11091672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2542032"/>
            <a:ext cx="128016" cy="758952"/>
          </a:xfrm>
          <a:prstGeom prst="rect">
            <a:avLst/>
          </a:prstGeom>
          <a:solidFill>
            <a:srgbClr val="1B7FD1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2688336"/>
            <a:ext cx="457200" cy="457200"/>
          </a:xfrm>
          <a:prstGeom prst="ellipse">
            <a:avLst/>
          </a:prstGeom>
          <a:solidFill>
            <a:srgbClr val="1B7FD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78892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542032"/>
            <a:ext cx="2651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Relevancia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251960" y="2542032"/>
            <a:ext cx="7159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 vínculo válido y creíble entre el indicador y el resultado planeado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392424"/>
            <a:ext cx="11091672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392424"/>
            <a:ext cx="128016" cy="758952"/>
          </a:xfrm>
          <a:prstGeom prst="rect">
            <a:avLst/>
          </a:prstGeom>
          <a:solidFill>
            <a:srgbClr val="2E9E7B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3538728"/>
            <a:ext cx="457200" cy="457200"/>
          </a:xfrm>
          <a:prstGeom prst="ellipse">
            <a:avLst/>
          </a:prstGeom>
          <a:solidFill>
            <a:srgbClr val="2E9E7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3931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392424"/>
            <a:ext cx="2651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Económico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251960" y="3392424"/>
            <a:ext cx="7159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obtenerse a un costo razonable según los recursos del proyecto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4242816"/>
            <a:ext cx="11091672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4242816"/>
            <a:ext cx="128016" cy="75895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5" name="Shape 20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48970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4242816"/>
            <a:ext cx="2651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Adecuación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251960" y="4242816"/>
            <a:ext cx="7159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Brinda información suficiente para el análisis, solo o junto con otros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093208"/>
            <a:ext cx="11091672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48640" y="5093208"/>
            <a:ext cx="128016" cy="758952"/>
          </a:xfrm>
          <a:prstGeom prst="rect">
            <a:avLst/>
          </a:prstGeom>
          <a:solidFill>
            <a:srgbClr val="23577F"/>
          </a:solidFill>
          <a:ln/>
        </p:spPr>
      </p:sp>
      <p:sp>
        <p:nvSpPr>
          <p:cNvPr id="31" name="Shape 25"/>
          <p:cNvSpPr/>
          <p:nvPr/>
        </p:nvSpPr>
        <p:spPr>
          <a:xfrm>
            <a:off x="868680" y="5239512"/>
            <a:ext cx="457200" cy="457200"/>
          </a:xfrm>
          <a:prstGeom prst="ellipse">
            <a:avLst/>
          </a:prstGeom>
          <a:solidFill>
            <a:srgbClr val="23577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340096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5093208"/>
            <a:ext cx="26517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Monitoreabilidad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251960" y="5093208"/>
            <a:ext cx="71597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monitorearse fácilmente y es susceptible de validación independiente</a:t>
            </a:r>
            <a:endParaRPr lang="en-US" sz="1300" dirty="0"/>
          </a:p>
        </p:txBody>
      </p:sp>
      <p:pic>
        <p:nvPicPr>
          <p:cNvPr id="35" name="Image 5" descr="assets/s1_image1.png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indicadores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 lógico de proyectos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intervención y sus hipótesis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 LÓGICO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 de intervención de un proyecto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C8A24B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80136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/ FIN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671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desarrollo de largo plazo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3008" y="2569464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2532888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0A5BA8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9718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/ PROPÓSITO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337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directo que busca el proyecto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3008" y="3739896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3703320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032504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B7FD1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14223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PRODUCTOS / COMPONENTES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5079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bienes y servicios entregados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93008" y="4910328"/>
            <a:ext cx="329184" cy="329184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3493008" y="4873752"/>
            <a:ext cx="329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202936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5312664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567842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que ejecuta el proyecto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69164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B2545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011680"/>
            <a:ext cx="594360" cy="5943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743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Lógica «Si… entonces»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360920" y="324612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realizan las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generan los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si se entregan los productos,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logran los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y si se logran los resultados,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entonces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contribuye al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pic>
        <p:nvPicPr>
          <p:cNvPr id="27" name="Image 1" descr="assets/s1_image1.p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lógico de proyectos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 LÓGICO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de un marco lógico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679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Cadena de resultados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Metas / Indicadores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Medios de verificación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Supuestos / hipótesis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Impacto / Fin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2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Resultados / Propósito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B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Productos / Componentes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Actividades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17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A5BA8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0A5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508406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470916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logran los RESULTADOS, esto debería contribuir al IMPACTO.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72200" y="461772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C8A24B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46520" y="4983480"/>
            <a:ext cx="457200" cy="457200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508406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470916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lógica funciona Y las hipótesis se cumplen, el proyecto tiene las mejores perspectivas de éxito.</a:t>
            </a:r>
            <a:endParaRPr lang="en-US" sz="1300" dirty="0"/>
          </a:p>
        </p:txBody>
      </p:sp>
      <p:pic>
        <p:nvPicPr>
          <p:cNvPr id="14" name="Image 2" descr="assets/s1_image1.pn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lógico de proyectos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Identificar, evaluar y mitigar la incertidumbre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Principales riesgos en proyectos turísticos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777240" cy="777240"/>
          </a:xfrm>
          <a:prstGeom prst="ellipse">
            <a:avLst/>
          </a:prstGeom>
          <a:solidFill>
            <a:srgbClr val="FBE9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21408"/>
            <a:ext cx="557784" cy="5577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91640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Variaciones imprevistas en el número y perfil de turistas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79392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11680"/>
            <a:ext cx="777240" cy="777240"/>
          </a:xfrm>
          <a:prstGeom prst="ellipse">
            <a:avLst/>
          </a:prstGeom>
          <a:solidFill>
            <a:srgbClr val="FBE9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21408"/>
            <a:ext cx="557784" cy="5577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Político-regulatorio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68112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la legislación e inestabilidad política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55864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2011680"/>
            <a:ext cx="777240" cy="777240"/>
          </a:xfrm>
          <a:prstGeom prst="ellipse">
            <a:avLst/>
          </a:prstGeom>
          <a:solidFill>
            <a:srgbClr val="FBE9E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121408"/>
            <a:ext cx="557784" cy="5577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44584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Ambiental y climático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244584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Desastres naturales y efectos del cambio climático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36576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977640"/>
            <a:ext cx="777240" cy="777240"/>
          </a:xfrm>
          <a:prstGeom prst="ellipse">
            <a:avLst/>
          </a:prstGeom>
          <a:solidFill>
            <a:srgbClr val="FBE9E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87368"/>
            <a:ext cx="557784" cy="5577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39502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Sanitario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691640" y="4480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Pandemias y epidemias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79392" y="36576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3977640"/>
            <a:ext cx="777240" cy="777240"/>
          </a:xfrm>
          <a:prstGeom prst="ellipse">
            <a:avLst/>
          </a:prstGeom>
          <a:solidFill>
            <a:srgbClr val="FBE9E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87368"/>
            <a:ext cx="557784" cy="5577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39502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Financiero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468112" y="4480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Fluctuaciones de divisas y restricciones crediticias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55864" y="36576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0184" y="3977640"/>
            <a:ext cx="777240" cy="777240"/>
          </a:xfrm>
          <a:prstGeom prst="ellipse">
            <a:avLst/>
          </a:prstGeom>
          <a:solidFill>
            <a:srgbClr val="FBE9E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087368"/>
            <a:ext cx="557784" cy="5577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44584" y="39502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55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Sociocultural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9244584" y="4480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con comunidades y rechazo local</a:t>
            </a:r>
            <a:endParaRPr lang="en-US" sz="1150" dirty="0"/>
          </a:p>
        </p:txBody>
      </p:sp>
      <p:pic>
        <p:nvPicPr>
          <p:cNvPr id="35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Riesgos financieros por etapa del proyecto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05840" y="2606040"/>
            <a:ext cx="10149840" cy="0"/>
          </a:xfrm>
          <a:prstGeom prst="line">
            <a:avLst/>
          </a:prstGeom>
          <a:noFill/>
          <a:ln w="31750">
            <a:solidFill>
              <a:srgbClr val="D9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2240280"/>
            <a:ext cx="731520" cy="731520"/>
          </a:xfrm>
          <a:prstGeom prst="ellipse">
            <a:avLst/>
          </a:prstGeom>
          <a:solidFill>
            <a:srgbClr val="0A5BA8"/>
          </a:solidFill>
          <a:ln/>
          <a:effectLst>
            <a:outerShdw sx="100000" sy="100000" kx="0" ky="0" algn="bl" rotWithShape="0" blurRad="63500" dist="25400" dir="5400000">
              <a:srgbClr val="0B2545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932" y="24048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6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334670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Inicio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" y="39776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insuficiente del proyecto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Subestimación de recursos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financiamiento inciertas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0268" y="2240280"/>
            <a:ext cx="731520" cy="731520"/>
          </a:xfrm>
          <a:prstGeom prst="ellipse">
            <a:avLst/>
          </a:prstGeom>
          <a:solidFill>
            <a:srgbClr val="1B7FD1"/>
          </a:solidFill>
          <a:ln/>
          <a:effectLst>
            <a:outerShdw sx="100000" sy="100000" kx="0" ky="0" algn="bl" rotWithShape="0" blurRad="63500" dist="25400" dir="5400000">
              <a:srgbClr val="0B2545">
                <a:alpha val="2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4048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6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93008" y="334670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Planificación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3493008" y="384048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694176" y="39776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 inexactos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optimistas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considerar inflación, impuestos o tipo de cambio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283196" y="2240280"/>
            <a:ext cx="731520" cy="731520"/>
          </a:xfrm>
          <a:prstGeom prst="ellipse">
            <a:avLst/>
          </a:prstGeom>
          <a:solidFill>
            <a:srgbClr val="C8A24B"/>
          </a:solidFill>
          <a:ln/>
          <a:effectLst>
            <a:outerShdw sx="100000" sy="100000" kx="0" ky="0" algn="bl" rotWithShape="0" blurRad="63500" dist="25400" dir="5400000">
              <a:srgbClr val="0B2545">
                <a:alpha val="2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240487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45936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6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345936" y="334670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Ejecución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6345936" y="384048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47104" y="39776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alcance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productividad e incremento de precios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10136124" y="2240280"/>
            <a:ext cx="731520" cy="731520"/>
          </a:xfrm>
          <a:prstGeom prst="ellipse">
            <a:avLst/>
          </a:prstGeom>
          <a:solidFill>
            <a:srgbClr val="2E9E7B"/>
          </a:solidFill>
          <a:ln/>
          <a:effectLst>
            <a:outerShdw sx="100000" sy="100000" kx="0" ky="0" algn="bl" rotWithShape="0" blurRad="63500" dist="25400" dir="5400000">
              <a:srgbClr val="0B2545">
                <a:alpha val="2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24048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98864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6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ETAPA 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198864" y="334670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9E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9198864" y="384048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400032" y="39776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pendientes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Reclamaciones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Liquidaciones incorrectas</a:t>
            </a:r>
            <a:endParaRPr lang="en-US" sz="1150" dirty="0"/>
          </a:p>
        </p:txBody>
      </p:sp>
      <p:pic>
        <p:nvPicPr>
          <p:cNvPr id="30" name="Image 4" descr="assets/s1_image1.png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probabilidad e impacto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103120" y="1783080"/>
            <a:ext cx="1325880" cy="1325880"/>
          </a:xfrm>
          <a:prstGeom prst="rect">
            <a:avLst/>
          </a:prstGeom>
          <a:solidFill>
            <a:srgbClr val="F0D4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783080"/>
            <a:ext cx="1325880" cy="1325880"/>
          </a:xfrm>
          <a:prstGeom prst="rect">
            <a:avLst/>
          </a:prstGeom>
          <a:solidFill>
            <a:srgbClr val="E2A8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783080"/>
            <a:ext cx="1325880" cy="1325880"/>
          </a:xfrm>
          <a:prstGeom prst="rect">
            <a:avLst/>
          </a:prstGeom>
          <a:solidFill>
            <a:srgbClr val="E2A8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108960"/>
            <a:ext cx="1325880" cy="1325880"/>
          </a:xfrm>
          <a:prstGeom prst="rect">
            <a:avLst/>
          </a:prstGeom>
          <a:solidFill>
            <a:srgbClr val="BFE0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3108960"/>
            <a:ext cx="1325880" cy="1325880"/>
          </a:xfrm>
          <a:prstGeom prst="rect">
            <a:avLst/>
          </a:prstGeom>
          <a:solidFill>
            <a:srgbClr val="F0D4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3108960"/>
            <a:ext cx="1325880" cy="1325880"/>
          </a:xfrm>
          <a:prstGeom prst="rect">
            <a:avLst/>
          </a:prstGeom>
          <a:solidFill>
            <a:srgbClr val="E2A8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4434840"/>
            <a:ext cx="1325880" cy="1325880"/>
          </a:xfrm>
          <a:prstGeom prst="rect">
            <a:avLst/>
          </a:prstGeom>
          <a:solidFill>
            <a:srgbClr val="BFE0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4434840"/>
            <a:ext cx="1325880" cy="1325880"/>
          </a:xfrm>
          <a:prstGeom prst="rect">
            <a:avLst/>
          </a:prstGeom>
          <a:solidFill>
            <a:srgbClr val="BFE0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4434840"/>
            <a:ext cx="1325880" cy="1325880"/>
          </a:xfrm>
          <a:prstGeom prst="rect">
            <a:avLst/>
          </a:prstGeom>
          <a:solidFill>
            <a:srgbClr val="F0D4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58064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Baja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58064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58064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17830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Muy alto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43484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61722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6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PROBABILIDAD 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 rot="16200000">
            <a:off x="2743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A9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12848" y="1965960"/>
            <a:ext cx="164592" cy="1645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2414016" y="1901952"/>
            <a:ext cx="99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38728" y="3291840"/>
            <a:ext cx="164592" cy="1645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3739896" y="3227832"/>
            <a:ext cx="99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Desastre natural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38728" y="3675888"/>
            <a:ext cx="164592" cy="1645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3739896" y="3611880"/>
            <a:ext cx="99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Inest. política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64608" y="4617720"/>
            <a:ext cx="164592" cy="1645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5065776" y="4553712"/>
            <a:ext cx="99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Fluct. divisas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38728" y="4059936"/>
            <a:ext cx="164592" cy="1645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3739896" y="3995928"/>
            <a:ext cx="99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comunit.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64608" y="5001768"/>
            <a:ext cx="164592" cy="1645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3" name="Text 31"/>
          <p:cNvSpPr/>
          <p:nvPr/>
        </p:nvSpPr>
        <p:spPr>
          <a:xfrm>
            <a:off x="5065776" y="4937760"/>
            <a:ext cx="99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Sobreturismo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 de respuesta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040880" y="2194560"/>
            <a:ext cx="466344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223113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Pandemia / crisis sanitaria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98280" y="223113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 y planes de crisis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2862072"/>
            <a:ext cx="466344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289864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Desastre natural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98280" y="289864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Seguro, diversificación, resiliencia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3529584"/>
            <a:ext cx="466344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35661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Inestabilidad política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98280" y="356616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relaciones institucionales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0880" y="4197096"/>
            <a:ext cx="466344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42336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Fluctuación de divisas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98280" y="423367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Coberturas financieras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40880" y="4864608"/>
            <a:ext cx="466344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490118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Conflicto comunitario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098280" y="490118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y consulta previa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40880" y="5532120"/>
            <a:ext cx="4663440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78040" y="556869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Sobreturismo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098280" y="556869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capacidad de carga</a:t>
            </a:r>
            <a:endParaRPr lang="en-US" sz="1000" dirty="0"/>
          </a:p>
        </p:txBody>
      </p:sp>
      <p:pic>
        <p:nvPicPr>
          <p:cNvPr id="53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 de riesgos financieros</a:t>
            </a:r>
            <a:endParaRPr lang="en-US" sz="2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697480"/>
                <a:gridCol w="2834640"/>
                <a:gridCol w="29535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Riesgo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Causa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Consecuencia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Control mitigante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insuficiente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Estimaciones inexactas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Sobrecostos y recursos adicionales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técnica y financiera previa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Incremento de costos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Inflación o cambios de alcance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Desviación y menor rentabilidad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y gestión de cambios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de fondos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Deficiente planificación financiera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Retrasos en pagos y ejecución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del flujo de caja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Pagos no autorizados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Debilidad en controles internos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Pérdidas y posibles fraudes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Segregación de funciones y aprobaciones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incorrecto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o falta de supervisión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inexacta para decidir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Conciliaciones y revisiones de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Incumplimiento tributario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Desconocimiento normativo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Multas y contingencias legales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por especialistas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 o malversación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Controles débiles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Pérdidas y daño reputacional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Auditorías y canales de denuncia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Costos al cierre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de conciliación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Estados incompletos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financiero formal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de control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70048" cy="31089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5024" y="2286000"/>
            <a:ext cx="1097280" cy="1097280"/>
          </a:xfrm>
          <a:prstGeom prst="ellipse">
            <a:avLst/>
          </a:prstGeom>
          <a:solidFill>
            <a:srgbClr val="0A5B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2514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661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Gobernanza sólida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claras de decisión y rendición de cuentas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874520"/>
            <a:ext cx="2670048" cy="31089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23944" y="2286000"/>
            <a:ext cx="1097280" cy="1097280"/>
          </a:xfrm>
          <a:prstGeom prst="ellipse">
            <a:avLst/>
          </a:prstGeom>
          <a:solidFill>
            <a:srgbClr val="1B7FD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25146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5661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Segregación de funciones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42062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autorización, ejecución y registro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874520"/>
            <a:ext cx="2670048" cy="31089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12864" y="2286000"/>
            <a:ext cx="1097280" cy="1097280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4" y="25146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5661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Auditorías periódicas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55080" y="42062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independiente y sistemática de procesos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915400" y="1874520"/>
            <a:ext cx="2670048" cy="31089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701784" y="2286000"/>
            <a:ext cx="1097280" cy="1097280"/>
          </a:xfrm>
          <a:prstGeom prst="ellipse">
            <a:avLst/>
          </a:prstGeom>
          <a:solidFill>
            <a:srgbClr val="2E9E7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384" y="251460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98280" y="35661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cambios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44000" y="4206240"/>
            <a:ext cx="221284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formales para controlar variaciones</a:t>
            </a:r>
            <a:endParaRPr lang="en-US" sz="1200" dirty="0"/>
          </a:p>
        </p:txBody>
      </p:sp>
      <p:pic>
        <p:nvPicPr>
          <p:cNvPr id="25" name="Image 4" descr="assets/s1_image1.png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 financiera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los recursos para perdurar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planificación financiera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turísticos requieren una adecuada planificación financiera para garantizar su viabilidad, rentabilidad y permanencia en el tiempo.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640080" cy="54864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404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es la herramienta fundamental para la toma de decisiones y el control de los recursos.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1737360"/>
            <a:ext cx="1481328" cy="4023360"/>
          </a:xfrm>
          <a:prstGeom prst="roundRect">
            <a:avLst>
              <a:gd name="adj" fmla="val 3704"/>
            </a:avLst>
          </a:prstGeom>
          <a:solidFill>
            <a:srgbClr val="0A5BA8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14616" y="219456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235000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03720" y="3200400"/>
            <a:ext cx="13898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Viabilidad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1737360"/>
            <a:ext cx="1481328" cy="4023360"/>
          </a:xfrm>
          <a:prstGeom prst="roundRect">
            <a:avLst>
              <a:gd name="adj" fmla="val 3704"/>
            </a:avLst>
          </a:prstGeom>
          <a:solidFill>
            <a:srgbClr val="1B7FD1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42248" y="219456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696" y="23500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31352" y="3200400"/>
            <a:ext cx="13898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Rentabilidad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0113264" y="1737360"/>
            <a:ext cx="1481328" cy="4023360"/>
          </a:xfrm>
          <a:prstGeom prst="roundRect">
            <a:avLst>
              <a:gd name="adj" fmla="val 370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469880" y="219456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235000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158984" y="3200400"/>
            <a:ext cx="13898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Permanencia</a:t>
            </a:r>
            <a:endParaRPr lang="en-US" sz="1500" dirty="0"/>
          </a:p>
        </p:txBody>
      </p:sp>
      <p:pic>
        <p:nvPicPr>
          <p:cNvPr id="20" name="Image 3" descr="assets/s1_image1.p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sostenibilidad financiera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presupuesto?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0B2545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3464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estimación cuantificada de ingresos, costos y gastos que permite planificar y controlar los recursos necesarios para ejecutar un proyecto.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35040" y="1737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035040" y="2240280"/>
            <a:ext cx="56235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81344" y="2359152"/>
            <a:ext cx="438912" cy="438912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323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0" y="224028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financieros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2971800"/>
            <a:ext cx="56235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81344" y="3090672"/>
            <a:ext cx="438912" cy="438912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16382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297180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del proyecto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035040" y="3703320"/>
            <a:ext cx="56235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81344" y="3822192"/>
            <a:ext cx="438912" cy="438912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89534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370332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gastos ejecutados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035040" y="4434840"/>
            <a:ext cx="56235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181344" y="4553712"/>
            <a:ext cx="438912" cy="438912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4626864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66560" y="443484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obtenidos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035040" y="5166360"/>
            <a:ext cx="56235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181344" y="5285232"/>
            <a:ext cx="438912" cy="438912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5358384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66560" y="5166360"/>
            <a:ext cx="4754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riesgos financieros</a:t>
            </a:r>
            <a:endParaRPr lang="en-US" sz="1300" dirty="0"/>
          </a:p>
        </p:txBody>
      </p:sp>
      <p:pic>
        <p:nvPicPr>
          <p:cNvPr id="29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sostenibilidad financiera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y componentes del presupuesto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28016" cy="1280160"/>
          </a:xfrm>
          <a:prstGeom prst="rect">
            <a:avLst/>
          </a:prstGeom>
          <a:solidFill>
            <a:srgbClr val="0A5BA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0A5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5623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de inversión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22402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Infraestructura, equipamiento, tecnología y capital de trabajo inicial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54864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63500" dist="25400" dir="5400000">
              <a:srgbClr val="0B25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108960"/>
            <a:ext cx="128016" cy="128016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3" name="Shape 10"/>
          <p:cNvSpPr/>
          <p:nvPr/>
        </p:nvSpPr>
        <p:spPr>
          <a:xfrm>
            <a:off x="868680" y="3474720"/>
            <a:ext cx="548640" cy="548640"/>
          </a:xfrm>
          <a:prstGeom prst="ellipse">
            <a:avLst/>
          </a:prstGeom>
          <a:solidFill>
            <a:srgbClr val="C8A24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59359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2735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operativo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600200" y="36576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Sueldos, servicios básicos, mantenimiento, publicidad y promoción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55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 un presupuesto turístico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217920" y="210312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4"/>
          <p:cNvSpPr/>
          <p:nvPr/>
        </p:nvSpPr>
        <p:spPr>
          <a:xfrm>
            <a:off x="548640" y="4617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Ingresos: servicios, hospedaje y actividades · Costos: transporte, alimentación, guías · Gastos: administración, marketing y servicios básicos.</a:t>
            </a:r>
            <a:endParaRPr lang="en-US" sz="1150" dirty="0"/>
          </a:p>
        </p:txBody>
      </p:sp>
      <p:pic>
        <p:nvPicPr>
          <p:cNvPr id="20" name="Image 2" descr="assets/s1_image1.pn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sostenibilidad financiera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Sostenibilidad financiera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8308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 un proyecto para generar ingresos suficientes que permitan cubrir sus costos y gastos, manteniendo su operación a largo plazo.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65860" y="3931920"/>
            <a:ext cx="914400" cy="91440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76" y="405993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4983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Rentabilidad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2816352" y="36118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33572" y="3931920"/>
            <a:ext cx="914400" cy="91440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588" y="4059936"/>
            <a:ext cx="658368" cy="658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07792" y="4983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Liquidez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084064" y="36118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701284" y="3931920"/>
            <a:ext cx="914400" cy="91440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4059936"/>
            <a:ext cx="658368" cy="6583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75504" y="4983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Eficiencia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7351776" y="36118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68996" y="3931920"/>
            <a:ext cx="914400" cy="91440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012" y="4059936"/>
            <a:ext cx="658368" cy="6583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43216" y="4983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Diversificación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9619488" y="3611880"/>
            <a:ext cx="2148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0236708" y="3931920"/>
            <a:ext cx="914400" cy="91440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724" y="4059936"/>
            <a:ext cx="658368" cy="6583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710928" y="498348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riesgos</a:t>
            </a:r>
            <a:endParaRPr lang="en-US" sz="1350" dirty="0"/>
          </a:p>
        </p:txBody>
      </p:sp>
      <p:pic>
        <p:nvPicPr>
          <p:cNvPr id="29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sostenibilidad financiera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Indicadores financieros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96012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47088"/>
            <a:ext cx="566928" cy="566928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385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373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26080" y="17373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Actual Neto — mide la rentabilidad del proyecto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5349240" cy="96012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916936"/>
            <a:ext cx="566928" cy="566928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083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807208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26080" y="280720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Interna de Retorno — rendimiento esperado de la inversión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785616"/>
            <a:ext cx="5349240" cy="96012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986784"/>
            <a:ext cx="566928" cy="566928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7822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77056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B/C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2926080" y="3877056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Beneficio-Costo — compara beneficios frente a costos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855464"/>
            <a:ext cx="5349240" cy="96012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50800" dist="12700" dir="5400000">
              <a:srgbClr val="0B2545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5056632"/>
            <a:ext cx="566928" cy="566928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4807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946904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 de equilibrio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2926080" y="494690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mínimas para no tener pérdidas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263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caja proyectado (ilustrativo)</a:t>
            </a:r>
            <a:endParaRPr lang="en-US" sz="13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126480" y="2103120"/>
          <a:ext cx="5623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27" name="Image 4" descr="assets/s1_image1.png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sostenibilidad financiera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 Y SOSTENIBILIDAD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Estrategias para la sostenibilidad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75688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85416"/>
            <a:ext cx="557784" cy="5577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Diversificar servicios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6243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la oferta turística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79392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85416"/>
            <a:ext cx="557784" cy="5577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68112" y="26243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costos con herramientas digitales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55864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2075688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185416"/>
            <a:ext cx="557784" cy="5577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44584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presupuestario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244584" y="26243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permanente del presupuesto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041648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151376"/>
            <a:ext cx="557784" cy="5577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Alianzas estratégicas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691640" y="459028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Cooperación con socios clave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79392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4041648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151376"/>
            <a:ext cx="557784" cy="5577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Turismo sostenible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468112" y="459028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prácticas responsables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55864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0184" y="4041648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151376"/>
            <a:ext cx="557784" cy="5577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44584" y="4023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Reinversión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9244584" y="459028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Reinvertir parte de las utilidades</a:t>
            </a:r>
            <a:endParaRPr lang="en-US" sz="1150" dirty="0"/>
          </a:p>
        </p:txBody>
      </p:sp>
      <p:pic>
        <p:nvPicPr>
          <p:cNvPr id="35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y sostenibilidad financiera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50292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3000" b="1" dirty="0">
                <a:solidFill>
                  <a:srgbClr val="1232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330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822960" cy="64008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A2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SECCIÓN 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de financiamiento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financiar emprendimientos turísticos</a:t>
            </a:r>
            <a:endParaRPr lang="en-US" sz="1500" dirty="0"/>
          </a:p>
        </p:txBody>
      </p:sp>
      <p:pic>
        <p:nvPicPr>
          <p:cNvPr id="7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5943600"/>
            <a:ext cx="155448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DE FINANCIAMIENTO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dónde provienen los recursos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258568"/>
            <a:ext cx="557784" cy="557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13055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Presupuestos gubernamentales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691640" y="27432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públicos nacionales y locales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79392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9392" y="178308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3712" y="2148840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58568"/>
            <a:ext cx="557784" cy="5577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68112" y="213055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Cooperación internacional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68112" y="27432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de organismos y agencias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55864" y="17830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55864" y="178308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19" name="Shape 15"/>
          <p:cNvSpPr/>
          <p:nvPr/>
        </p:nvSpPr>
        <p:spPr>
          <a:xfrm>
            <a:off x="8330184" y="2148840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258568"/>
            <a:ext cx="557784" cy="5577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44584" y="213055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Inversión privada directa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9244584" y="27432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empresas e inversionistas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292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74904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4114800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24528"/>
            <a:ext cx="557784" cy="5577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91640" y="40965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Fideicomisos turísticos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691640" y="4709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 financieros especializados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79392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279392" y="374904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1" name="Shape 25"/>
          <p:cNvSpPr/>
          <p:nvPr/>
        </p:nvSpPr>
        <p:spPr>
          <a:xfrm>
            <a:off x="4553712" y="4114800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224528"/>
            <a:ext cx="557784" cy="5577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68112" y="40965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 de riesgo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5468112" y="4709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capital para alto crecimiento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55864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55864" y="3749040"/>
            <a:ext cx="3611880" cy="9144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7" name="Shape 30"/>
          <p:cNvSpPr/>
          <p:nvPr/>
        </p:nvSpPr>
        <p:spPr>
          <a:xfrm>
            <a:off x="8330184" y="4114800"/>
            <a:ext cx="777240" cy="777240"/>
          </a:xfrm>
          <a:prstGeom prst="ellipse">
            <a:avLst/>
          </a:prstGeom>
          <a:solidFill>
            <a:srgbClr val="DCE9F7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224528"/>
            <a:ext cx="557784" cy="5577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244584" y="40965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Financiamiento comunitario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9244584" y="4709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asociativos y locales</a:t>
            </a:r>
            <a:endParaRPr lang="en-US" sz="1100" dirty="0"/>
          </a:p>
        </p:txBody>
      </p:sp>
      <p:pic>
        <p:nvPicPr>
          <p:cNvPr id="41" name="Image 6" descr="assets/s1_image1.png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financiamiento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713232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7548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DE FINANCIAMIENTO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Organismos y fondos disponibles</a:t>
            </a:r>
            <a:endParaRPr lang="en-US" sz="27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3657600"/>
                <a:gridCol w="13990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Organismo / Fondo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Tipo de financiamiento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Sectores prioritarios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Acceso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 Lab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semilla y cooperación técnica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Turismo sostenible, innovación, inclusión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Créditos y fondos concursables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territorial e infraestructura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Medio-Bajo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0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AL-INVEST Verde (UE)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Fondos no reembolsables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Economía verde y circular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FIEDS (Ítalo-Ecuatoriano)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Donaciones no reembolsables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Turismo comunitario y conservación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Cooperación y asistencia técnica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Turismo comunitario y desarrollo 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Alto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CEFA (Italia)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Fondos concursables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Turismo rural y economía solidaria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Alto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 (Alemania)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Cooperación técnica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Turismo sostenible y clima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AECID (España)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Donaciones y cooperación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Inclusión social y turismo sostenible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Innovación e investigación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Turismo inteligente y digital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Medio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D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Emprende Turismo (MINTUR)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semilla y mentorías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Alojamiento, gastronomía, comunitario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Alto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7B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assets/s1_image1.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6355080"/>
            <a:ext cx="868680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63459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financiamiento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094415" y="63459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5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40_Imagen_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>
              <a:alpha val="8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108960" y="1828800"/>
            <a:ext cx="5943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2545">
                <a:alpha val="16000"/>
              </a:srgbClr>
            </a:outerShdw>
          </a:effectLst>
        </p:spPr>
      </p:sp>
      <p:pic>
        <p:nvPicPr>
          <p:cNvPr id="5" name="Image 1" descr="assets/s1_image1.p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1993392"/>
            <a:ext cx="484632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 por compartir con nosotros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5684368" y="4206240"/>
            <a:ext cx="822960" cy="45720"/>
          </a:xfrm>
          <a:prstGeom prst="rect">
            <a:avLst/>
          </a:prstGeom>
          <a:solidFill>
            <a:srgbClr val="C8A24B"/>
          </a:solidFill>
          <a:ln/>
        </p:spPr>
      </p:sp>
      <p:sp>
        <p:nvSpPr>
          <p:cNvPr id="8" name="Text 4"/>
          <p:cNvSpPr/>
          <p:nvPr/>
        </p:nvSpPr>
        <p:spPr>
          <a:xfrm>
            <a:off x="1371600" y="443484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Gualberto Llamuca Colcha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371600" y="48006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Empresarial de Guayaquil · Ecuador · Junio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Formulación y Gestión de Proyectos Turísticos</dc:title>
  <dc:subject>PptxGenJS Presentation</dc:subject>
  <dc:creator>Gualberto Llamuca Colcha</dc:creator>
  <cp:lastModifiedBy>Gualberto Llamuca Colcha</cp:lastModifiedBy>
  <cp:revision>1</cp:revision>
  <dcterms:created xsi:type="dcterms:W3CDTF">2026-06-22T19:25:54Z</dcterms:created>
  <dcterms:modified xsi:type="dcterms:W3CDTF">2026-06-22T19:25:54Z</dcterms:modified>
</cp:coreProperties>
</file>